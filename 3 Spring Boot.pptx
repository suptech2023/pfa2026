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7" r:id="rId6"/>
    <p:sldId id="268" r:id="rId7"/>
    <p:sldId id="269" r:id="rId8"/>
    <p:sldId id="279" r:id="rId9"/>
    <p:sldId id="270" r:id="rId10"/>
    <p:sldId id="271" r:id="rId11"/>
    <p:sldId id="272" r:id="rId12"/>
    <p:sldId id="260" r:id="rId13"/>
    <p:sldId id="261" r:id="rId14"/>
    <p:sldId id="262" r:id="rId15"/>
    <p:sldId id="273" r:id="rId16"/>
    <p:sldId id="274" r:id="rId17"/>
    <p:sldId id="280" r:id="rId18"/>
    <p:sldId id="263" r:id="rId19"/>
    <p:sldId id="288" r:id="rId20"/>
    <p:sldId id="264" r:id="rId21"/>
    <p:sldId id="275" r:id="rId22"/>
    <p:sldId id="281" r:id="rId23"/>
    <p:sldId id="276" r:id="rId24"/>
    <p:sldId id="282" r:id="rId25"/>
    <p:sldId id="277" r:id="rId26"/>
    <p:sldId id="278" r:id="rId27"/>
    <p:sldId id="283" r:id="rId28"/>
    <p:sldId id="284" r:id="rId29"/>
    <p:sldId id="285" r:id="rId30"/>
    <p:sldId id="286" r:id="rId31"/>
    <p:sldId id="287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1524" y="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33B9F-2FCE-4E13-B487-DC5EB1C6CC6C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9F920-F409-4654-8323-08C1DC900D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0398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A9F920-F409-4654-8323-08C1DC900DF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4269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746F-367B-4C15-A178-F41F18ADD6D6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597321D-6C17-4B7C-A549-B3D1D911BC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6069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746F-367B-4C15-A178-F41F18ADD6D6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7321D-6C17-4B7C-A549-B3D1D911BC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76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BA9746F-367B-4C15-A178-F41F18ADD6D6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fr-FR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597321D-6C17-4B7C-A549-B3D1D911BC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3463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746F-367B-4C15-A178-F41F18ADD6D6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7321D-6C17-4B7C-A549-B3D1D911BC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8698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746F-367B-4C15-A178-F41F18ADD6D6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7321D-6C17-4B7C-A549-B3D1D911BC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5650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BA9746F-367B-4C15-A178-F41F18ADD6D6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7321D-6C17-4B7C-A549-B3D1D911BC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0094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746F-367B-4C15-A178-F41F18ADD6D6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7321D-6C17-4B7C-A549-B3D1D911BC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1562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746F-367B-4C15-A178-F41F18ADD6D6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7321D-6C17-4B7C-A549-B3D1D911BC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9257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746F-367B-4C15-A178-F41F18ADD6D6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7321D-6C17-4B7C-A549-B3D1D911BC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4245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746F-367B-4C15-A178-F41F18ADD6D6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7321D-6C17-4B7C-A549-B3D1D911BC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735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746F-367B-4C15-A178-F41F18ADD6D6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7321D-6C17-4B7C-A549-B3D1D911BC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2891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BA9746F-367B-4C15-A178-F41F18ADD6D6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597321D-6C17-4B7C-A549-B3D1D911BC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7135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 err="1" smtClean="0"/>
              <a:t>Spring</a:t>
            </a:r>
            <a:r>
              <a:rPr lang="fr-FR" b="1" dirty="0" smtClean="0"/>
              <a:t> Boot</a:t>
            </a:r>
            <a:endParaRPr lang="fr-FR" b="1" dirty="0"/>
          </a:p>
        </p:txBody>
      </p:sp>
      <p:sp>
        <p:nvSpPr>
          <p:cNvPr id="4" name="Sous-titr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RÃ©sultat de recherche d'images pour &quot;spring boot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04664"/>
            <a:ext cx="2952750" cy="155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61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404664"/>
            <a:ext cx="7024744" cy="1143000"/>
          </a:xfrm>
        </p:spPr>
        <p:txBody>
          <a:bodyPr/>
          <a:lstStyle/>
          <a:p>
            <a:pPr algn="ctr"/>
            <a:r>
              <a:rPr lang="fr-FR" b="1" dirty="0"/>
              <a:t>La plateforme </a:t>
            </a:r>
            <a:r>
              <a:rPr lang="fr-FR" b="1" dirty="0" smtClean="0"/>
              <a:t>SPRING</a:t>
            </a:r>
            <a:endParaRPr lang="fr-FR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844824"/>
            <a:ext cx="6912767" cy="4320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731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620688"/>
            <a:ext cx="7024744" cy="889168"/>
          </a:xfrm>
        </p:spPr>
        <p:txBody>
          <a:bodyPr/>
          <a:lstStyle/>
          <a:p>
            <a:pPr algn="ctr"/>
            <a:r>
              <a:rPr lang="fr-FR" b="1" dirty="0"/>
              <a:t>Pourquoi </a:t>
            </a:r>
            <a:r>
              <a:rPr lang="fr-FR" b="1" dirty="0" err="1"/>
              <a:t>Spring</a:t>
            </a:r>
            <a:r>
              <a:rPr lang="fr-FR" b="1" dirty="0"/>
              <a:t> Boot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11560" y="1700808"/>
            <a:ext cx="7992888" cy="446449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dirty="0"/>
              <a:t>Point d’entrée dans la plateforme (au lieu de </a:t>
            </a:r>
            <a:r>
              <a:rPr lang="fr-FR" dirty="0" err="1"/>
              <a:t>spring</a:t>
            </a:r>
            <a:r>
              <a:rPr lang="fr-FR" dirty="0"/>
              <a:t>-*) </a:t>
            </a:r>
            <a:endParaRPr lang="fr-FR" dirty="0" smtClean="0"/>
          </a:p>
          <a:p>
            <a:pPr algn="just">
              <a:lnSpc>
                <a:spcPct val="150000"/>
              </a:lnSpc>
            </a:pPr>
            <a:r>
              <a:rPr lang="fr-FR" dirty="0" smtClean="0"/>
              <a:t>Dépendances </a:t>
            </a:r>
            <a:r>
              <a:rPr lang="fr-FR" dirty="0"/>
              <a:t>prêtes à l’emploi </a:t>
            </a:r>
            <a:endParaRPr lang="fr-FR" dirty="0" smtClean="0"/>
          </a:p>
          <a:p>
            <a:pPr algn="just">
              <a:lnSpc>
                <a:spcPct val="150000"/>
              </a:lnSpc>
            </a:pPr>
            <a:r>
              <a:rPr lang="fr-FR" dirty="0" smtClean="0"/>
              <a:t>Auto-Configuration </a:t>
            </a:r>
          </a:p>
          <a:p>
            <a:pPr algn="just">
              <a:lnSpc>
                <a:spcPct val="150000"/>
              </a:lnSpc>
            </a:pPr>
            <a:r>
              <a:rPr lang="fr-FR" dirty="0" err="1" smtClean="0"/>
              <a:t>Standalone</a:t>
            </a:r>
            <a:r>
              <a:rPr lang="fr-FR" dirty="0" smtClean="0"/>
              <a:t> </a:t>
            </a:r>
            <a:r>
              <a:rPr lang="fr-FR" dirty="0"/>
              <a:t>application </a:t>
            </a:r>
            <a:endParaRPr lang="fr-FR" dirty="0" smtClean="0"/>
          </a:p>
          <a:p>
            <a:pPr algn="just">
              <a:lnSpc>
                <a:spcPct val="150000"/>
              </a:lnSpc>
            </a:pPr>
            <a:r>
              <a:rPr lang="fr-FR" dirty="0" err="1" smtClean="0"/>
              <a:t>Tomcat</a:t>
            </a:r>
            <a:r>
              <a:rPr lang="fr-FR" dirty="0" smtClean="0"/>
              <a:t>/</a:t>
            </a:r>
            <a:r>
              <a:rPr lang="fr-FR" dirty="0" err="1" smtClean="0"/>
              <a:t>Jetty</a:t>
            </a:r>
            <a:r>
              <a:rPr lang="fr-FR" dirty="0" smtClean="0"/>
              <a:t> </a:t>
            </a:r>
            <a:r>
              <a:rPr lang="fr-FR" dirty="0"/>
              <a:t>en mode </a:t>
            </a:r>
            <a:r>
              <a:rPr lang="fr-FR" dirty="0" smtClean="0"/>
              <a:t>embarqué</a:t>
            </a:r>
          </a:p>
          <a:p>
            <a:pPr algn="just">
              <a:lnSpc>
                <a:spcPct val="150000"/>
              </a:lnSpc>
            </a:pPr>
            <a:r>
              <a:rPr lang="fr-FR" dirty="0" smtClean="0"/>
              <a:t> </a:t>
            </a:r>
            <a:r>
              <a:rPr lang="fr-FR" dirty="0"/>
              <a:t>Fonctionnalités pour la </a:t>
            </a:r>
            <a:r>
              <a:rPr lang="fr-FR" dirty="0" smtClean="0"/>
              <a:t>production</a:t>
            </a:r>
          </a:p>
          <a:p>
            <a:pPr algn="just">
              <a:lnSpc>
                <a:spcPct val="150000"/>
              </a:lnSpc>
            </a:pPr>
            <a:r>
              <a:rPr lang="fr-FR" dirty="0" smtClean="0"/>
              <a:t> </a:t>
            </a:r>
            <a:r>
              <a:rPr lang="fr-FR" dirty="0"/>
              <a:t>Pas de génération de code/de XML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2523331"/>
            <a:ext cx="2633861" cy="26338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3607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260648"/>
            <a:ext cx="7024744" cy="1143000"/>
          </a:xfrm>
        </p:spPr>
        <p:txBody>
          <a:bodyPr>
            <a:normAutofit/>
          </a:bodyPr>
          <a:lstStyle/>
          <a:p>
            <a:pPr algn="ctr"/>
            <a:r>
              <a:rPr lang="fr-FR" sz="3200" b="1" dirty="0" smtClean="0"/>
              <a:t>Structure d’un Projet </a:t>
            </a:r>
            <a:r>
              <a:rPr lang="fr-FR" sz="3200" b="1" dirty="0" err="1" smtClean="0"/>
              <a:t>Spring</a:t>
            </a:r>
            <a:r>
              <a:rPr lang="fr-FR" sz="3200" b="1" dirty="0" smtClean="0"/>
              <a:t> Boot</a:t>
            </a:r>
            <a:endParaRPr lang="fr-FR" sz="32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1453852"/>
            <a:ext cx="8162925" cy="51435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955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476672"/>
            <a:ext cx="7024744" cy="817160"/>
          </a:xfrm>
        </p:spPr>
        <p:txBody>
          <a:bodyPr/>
          <a:lstStyle/>
          <a:p>
            <a:pPr algn="ctr"/>
            <a:r>
              <a:rPr lang="fr-FR" b="1" dirty="0" smtClean="0"/>
              <a:t>Atelier N° 1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55576" y="1340768"/>
            <a:ext cx="7560840" cy="4968552"/>
          </a:xfrm>
        </p:spPr>
        <p:txBody>
          <a:bodyPr>
            <a:normAutofit fontScale="92500"/>
          </a:bodyPr>
          <a:lstStyle/>
          <a:p>
            <a:pPr algn="just">
              <a:lnSpc>
                <a:spcPct val="300000"/>
              </a:lnSpc>
            </a:pPr>
            <a:r>
              <a:rPr lang="fr-FR" dirty="0" smtClean="0"/>
              <a:t>Créer un nouveau projet </a:t>
            </a:r>
            <a:r>
              <a:rPr lang="fr-FR" dirty="0" err="1" smtClean="0"/>
              <a:t>Spring</a:t>
            </a:r>
            <a:r>
              <a:rPr lang="fr-FR" dirty="0" smtClean="0"/>
              <a:t> Boot</a:t>
            </a:r>
          </a:p>
          <a:p>
            <a:pPr lvl="1" algn="just">
              <a:lnSpc>
                <a:spcPct val="300000"/>
              </a:lnSpc>
            </a:pPr>
            <a:r>
              <a:rPr lang="fr-FR" dirty="0" smtClean="0"/>
              <a:t>Configurer le projet.</a:t>
            </a:r>
          </a:p>
          <a:p>
            <a:pPr lvl="1" algn="just">
              <a:lnSpc>
                <a:spcPct val="300000"/>
              </a:lnSpc>
            </a:pPr>
            <a:r>
              <a:rPr lang="fr-FR" dirty="0" smtClean="0"/>
              <a:t>Choisir les dépendances:</a:t>
            </a:r>
          </a:p>
          <a:p>
            <a:pPr lvl="2" algn="just">
              <a:lnSpc>
                <a:spcPct val="300000"/>
              </a:lnSpc>
            </a:pPr>
            <a:r>
              <a:rPr lang="fr-FR" dirty="0" smtClean="0"/>
              <a:t>JPA</a:t>
            </a:r>
          </a:p>
          <a:p>
            <a:pPr lvl="2" algn="just">
              <a:lnSpc>
                <a:spcPct val="300000"/>
              </a:lnSpc>
            </a:pPr>
            <a:r>
              <a:rPr lang="fr-FR" dirty="0" smtClean="0"/>
              <a:t>MYSQL</a:t>
            </a:r>
          </a:p>
          <a:p>
            <a:pPr lvl="2" algn="just">
              <a:lnSpc>
                <a:spcPct val="300000"/>
              </a:lnSpc>
            </a:pPr>
            <a:r>
              <a:rPr lang="fr-FR" dirty="0" smtClean="0"/>
              <a:t>WEB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9149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73144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/>
              <a:t>Configuration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43492" y="1844824"/>
            <a:ext cx="7200916" cy="4320480"/>
          </a:xfrm>
        </p:spPr>
        <p:txBody>
          <a:bodyPr/>
          <a:lstStyle/>
          <a:p>
            <a:pPr>
              <a:lnSpc>
                <a:spcPct val="300000"/>
              </a:lnSpc>
            </a:pPr>
            <a:r>
              <a:rPr lang="fr-FR" dirty="0" smtClean="0"/>
              <a:t>Créer votre base de données: </a:t>
            </a:r>
            <a:r>
              <a:rPr lang="fr-FR" b="1" dirty="0" err="1" smtClean="0"/>
              <a:t>SpringBase</a:t>
            </a:r>
            <a:r>
              <a:rPr lang="fr-FR" dirty="0" smtClean="0"/>
              <a:t>.</a:t>
            </a:r>
          </a:p>
          <a:p>
            <a:pPr>
              <a:lnSpc>
                <a:spcPct val="300000"/>
              </a:lnSpc>
            </a:pPr>
            <a:r>
              <a:rPr lang="fr-FR" dirty="0" smtClean="0"/>
              <a:t>Exécuter le projet autant que </a:t>
            </a:r>
            <a:r>
              <a:rPr lang="fr-FR" b="1" dirty="0" err="1" smtClean="0"/>
              <a:t>Spring</a:t>
            </a:r>
            <a:r>
              <a:rPr lang="fr-FR" b="1" dirty="0" smtClean="0"/>
              <a:t> Boot App.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21341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1099672"/>
            <a:ext cx="7024744" cy="673144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/>
              <a:t>Fichier de Configuration</a:t>
            </a:r>
            <a:br>
              <a:rPr lang="fr-FR" b="1" dirty="0" smtClean="0"/>
            </a:br>
            <a:r>
              <a:rPr lang="fr-FR" b="1" dirty="0" err="1" smtClean="0"/>
              <a:t>application.properties</a:t>
            </a:r>
            <a:endParaRPr lang="fr-FR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1847850"/>
            <a:ext cx="7972425" cy="44614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2450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73144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/>
              <a:t>Tester Le Serveur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43492" y="1916832"/>
            <a:ext cx="6777317" cy="3915797"/>
          </a:xfrm>
        </p:spPr>
        <p:txBody>
          <a:bodyPr/>
          <a:lstStyle/>
          <a:p>
            <a:pPr>
              <a:lnSpc>
                <a:spcPct val="300000"/>
              </a:lnSpc>
            </a:pPr>
            <a:r>
              <a:rPr lang="fr-FR" dirty="0" smtClean="0"/>
              <a:t>Localhost:8080</a:t>
            </a:r>
          </a:p>
          <a:p>
            <a:pPr>
              <a:lnSpc>
                <a:spcPct val="300000"/>
              </a:lnSpc>
            </a:pPr>
            <a:r>
              <a:rPr lang="fr-FR" dirty="0" smtClean="0"/>
              <a:t>Créer une page index.html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011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73144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/>
              <a:t>Créer La Classe Entité</a:t>
            </a:r>
            <a:endParaRPr lang="fr-FR" b="1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1306148"/>
              </p:ext>
            </p:extLst>
          </p:nvPr>
        </p:nvGraphicFramePr>
        <p:xfrm>
          <a:off x="2123728" y="2132856"/>
          <a:ext cx="490420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4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800" b="1" dirty="0" err="1" smtClean="0"/>
                        <a:t>Employes</a:t>
                      </a:r>
                      <a:endParaRPr lang="fr-FR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800" b="1" dirty="0" err="1" smtClean="0"/>
                        <a:t>mat,nom,sal</a:t>
                      </a:r>
                      <a:endParaRPr lang="fr-FR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800" b="1" dirty="0" smtClean="0"/>
                        <a:t>Getters &amp; Setters</a:t>
                      </a:r>
                      <a:endParaRPr lang="fr-FR" sz="2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ZoneTexte 4"/>
          <p:cNvSpPr txBox="1"/>
          <p:nvPr/>
        </p:nvSpPr>
        <p:spPr>
          <a:xfrm>
            <a:off x="2195736" y="4149080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Utiliser les annotations JPA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301160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/>
              <a:t>Test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300000"/>
              </a:lnSpc>
            </a:pPr>
            <a:r>
              <a:rPr lang="fr-FR" dirty="0" smtClean="0"/>
              <a:t>Exécuter l’application autant que </a:t>
            </a:r>
            <a:r>
              <a:rPr lang="fr-FR" b="1" dirty="0" err="1" smtClean="0"/>
              <a:t>Spring</a:t>
            </a:r>
            <a:r>
              <a:rPr lang="fr-FR" b="1" dirty="0" smtClean="0"/>
              <a:t> Boot App.</a:t>
            </a:r>
          </a:p>
          <a:p>
            <a:pPr algn="just">
              <a:lnSpc>
                <a:spcPct val="300000"/>
              </a:lnSpc>
            </a:pPr>
            <a:r>
              <a:rPr lang="fr-FR" dirty="0" smtClean="0"/>
              <a:t>Vérifier la base.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1196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SPRING DATA</a:t>
            </a:r>
            <a:endParaRPr lang="fr-FR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>
          <a:xfrm>
            <a:off x="4788024" y="4365104"/>
            <a:ext cx="3309803" cy="1260629"/>
          </a:xfrm>
        </p:spPr>
        <p:txBody>
          <a:bodyPr>
            <a:normAutofit fontScale="92500"/>
          </a:bodyPr>
          <a:lstStyle/>
          <a:p>
            <a:pPr algn="just">
              <a:lnSpc>
                <a:spcPct val="300000"/>
              </a:lnSpc>
            </a:pPr>
            <a:r>
              <a:rPr lang="fr-FR" b="1" dirty="0" smtClean="0"/>
              <a:t>Faciliter l’accès aux données</a:t>
            </a:r>
            <a:endParaRPr lang="fr-FR" b="1" dirty="0"/>
          </a:p>
        </p:txBody>
      </p:sp>
      <p:pic>
        <p:nvPicPr>
          <p:cNvPr id="3074" name="Picture 2" descr="RÃ©sultat de recherche d'images pour &quot;spring data&quot;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-8538"/>
            <a:ext cx="28575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10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620688"/>
            <a:ext cx="7024744" cy="745152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b="1" dirty="0" err="1" smtClean="0"/>
              <a:t>Spring</a:t>
            </a:r>
            <a:r>
              <a:rPr lang="fr-FR" sz="5400" b="1" dirty="0" smtClean="0"/>
              <a:t> DATA</a:t>
            </a:r>
            <a:endParaRPr lang="fr-FR" sz="5400" b="1" dirty="0"/>
          </a:p>
        </p:txBody>
      </p:sp>
      <p:sp>
        <p:nvSpPr>
          <p:cNvPr id="4" name="AutoShape 2" descr="Image associÃ©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19288"/>
            <a:ext cx="7200800" cy="41740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575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620688"/>
            <a:ext cx="7024744" cy="601136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err="1"/>
              <a:t>Spring</a:t>
            </a:r>
            <a:r>
              <a:rPr lang="fr-FR" b="1" dirty="0"/>
              <a:t> DATA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83568" y="1412776"/>
            <a:ext cx="7848872" cy="4968552"/>
          </a:xfrm>
        </p:spPr>
        <p:txBody>
          <a:bodyPr>
            <a:normAutofit fontScale="92500" lnSpcReduction="20000"/>
          </a:bodyPr>
          <a:lstStyle/>
          <a:p>
            <a:pPr marL="68580" indent="0" algn="just">
              <a:lnSpc>
                <a:spcPct val="170000"/>
              </a:lnSpc>
              <a:buNone/>
            </a:pPr>
            <a:r>
              <a:rPr lang="fr-FR" dirty="0" err="1"/>
              <a:t>Spring</a:t>
            </a:r>
            <a:r>
              <a:rPr lang="fr-FR" dirty="0"/>
              <a:t> Data est un robuste </a:t>
            </a:r>
            <a:r>
              <a:rPr lang="fr-FR" dirty="0" err="1"/>
              <a:t>framework</a:t>
            </a:r>
            <a:r>
              <a:rPr lang="fr-FR" dirty="0"/>
              <a:t> de l’écosystème de </a:t>
            </a:r>
            <a:r>
              <a:rPr lang="fr-FR" dirty="0" err="1"/>
              <a:t>Spring</a:t>
            </a:r>
            <a:r>
              <a:rPr lang="fr-FR" dirty="0"/>
              <a:t> qui se compose de nombreux modules offrant d’accéder des solutions de données alternatives comme </a:t>
            </a:r>
            <a:r>
              <a:rPr lang="fr-FR" dirty="0" smtClean="0"/>
              <a:t>:</a:t>
            </a:r>
          </a:p>
          <a:p>
            <a:pPr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fr-FR" b="1" dirty="0" err="1" smtClean="0"/>
              <a:t>GemFire</a:t>
            </a:r>
            <a:r>
              <a:rPr lang="fr-FR" dirty="0" smtClean="0"/>
              <a:t> </a:t>
            </a:r>
            <a:r>
              <a:rPr lang="fr-FR" dirty="0"/>
              <a:t>: Cache distribué. </a:t>
            </a:r>
            <a:endParaRPr lang="fr-FR" dirty="0" smtClean="0"/>
          </a:p>
          <a:p>
            <a:pPr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fr-FR" b="1" dirty="0" err="1" smtClean="0"/>
              <a:t>MongoDB</a:t>
            </a:r>
            <a:r>
              <a:rPr lang="fr-FR" dirty="0" smtClean="0"/>
              <a:t> </a:t>
            </a:r>
            <a:r>
              <a:rPr lang="fr-FR" dirty="0"/>
              <a:t>: Base </a:t>
            </a:r>
            <a:r>
              <a:rPr lang="fr-FR" dirty="0" err="1"/>
              <a:t>NoSQL</a:t>
            </a:r>
            <a:r>
              <a:rPr lang="fr-FR" dirty="0"/>
              <a:t>, orienté « document » </a:t>
            </a:r>
            <a:endParaRPr lang="fr-FR" dirty="0" smtClean="0"/>
          </a:p>
          <a:p>
            <a:pPr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fr-FR" b="1" dirty="0" smtClean="0"/>
              <a:t>Neo4J</a:t>
            </a:r>
            <a:r>
              <a:rPr lang="fr-FR" dirty="0" smtClean="0"/>
              <a:t> </a:t>
            </a:r>
            <a:r>
              <a:rPr lang="fr-FR" dirty="0"/>
              <a:t>: Base structurée autour de structures de Graphes. </a:t>
            </a:r>
            <a:endParaRPr lang="fr-FR" dirty="0" smtClean="0"/>
          </a:p>
          <a:p>
            <a:pPr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fr-FR" b="1" dirty="0" smtClean="0"/>
              <a:t>Redis</a:t>
            </a:r>
            <a:r>
              <a:rPr lang="fr-FR" dirty="0" smtClean="0"/>
              <a:t> </a:t>
            </a:r>
            <a:r>
              <a:rPr lang="fr-FR" dirty="0"/>
              <a:t>: Système de données par « clé/valeur » </a:t>
            </a:r>
            <a:endParaRPr lang="fr-FR" dirty="0" smtClean="0"/>
          </a:p>
          <a:p>
            <a:pPr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fr-FR" b="1" dirty="0" err="1" smtClean="0"/>
              <a:t>Solr</a:t>
            </a:r>
            <a:r>
              <a:rPr lang="fr-FR" dirty="0" smtClean="0"/>
              <a:t> </a:t>
            </a:r>
            <a:r>
              <a:rPr lang="fr-FR" dirty="0"/>
              <a:t>: Plateforme s’appuyant sur le moteur de recherche </a:t>
            </a:r>
            <a:r>
              <a:rPr lang="fr-FR" dirty="0" err="1"/>
              <a:t>Lucène</a:t>
            </a:r>
            <a:r>
              <a:rPr lang="fr-FR" dirty="0" smtClean="0"/>
              <a:t>.</a:t>
            </a:r>
          </a:p>
          <a:p>
            <a:pPr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fr-FR" dirty="0" smtClean="0"/>
              <a:t>et </a:t>
            </a:r>
            <a:r>
              <a:rPr lang="fr-FR" b="1" dirty="0"/>
              <a:t>JPA</a:t>
            </a:r>
            <a:r>
              <a:rPr lang="fr-FR" dirty="0"/>
              <a:t>... </a:t>
            </a:r>
          </a:p>
        </p:txBody>
      </p:sp>
    </p:spTree>
    <p:extLst>
      <p:ext uri="{BB962C8B-B14F-4D97-AF65-F5344CB8AC3E}">
        <p14:creationId xmlns:p14="http://schemas.microsoft.com/office/powerpoint/2010/main" val="224535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73144"/>
          </a:xfrm>
        </p:spPr>
        <p:txBody>
          <a:bodyPr>
            <a:normAutofit/>
          </a:bodyPr>
          <a:lstStyle/>
          <a:p>
            <a:pPr algn="ctr"/>
            <a:r>
              <a:rPr lang="fr-FR" b="1" dirty="0" err="1" smtClean="0"/>
              <a:t>Spring</a:t>
            </a:r>
            <a:r>
              <a:rPr lang="fr-FR" b="1" dirty="0" smtClean="0"/>
              <a:t> Data JPA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b="1" dirty="0" err="1"/>
              <a:t>Spring</a:t>
            </a:r>
            <a:r>
              <a:rPr lang="fr-FR" b="1" dirty="0"/>
              <a:t> Data JPA </a:t>
            </a:r>
            <a:r>
              <a:rPr lang="fr-FR" dirty="0"/>
              <a:t>met en place une surcouche d’accès à JPA, et fournit donc ainsi un ensemble cohérent de fonctionnalités avancées sur lesquels s’appuyer pour bâtir et consolider ses applications.</a:t>
            </a:r>
          </a:p>
        </p:txBody>
      </p:sp>
    </p:spTree>
    <p:extLst>
      <p:ext uri="{BB962C8B-B14F-4D97-AF65-F5344CB8AC3E}">
        <p14:creationId xmlns:p14="http://schemas.microsoft.com/office/powerpoint/2010/main" val="408845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1099672"/>
            <a:ext cx="7024744" cy="601136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/>
              <a:t>Mise en place de </a:t>
            </a:r>
            <a:r>
              <a:rPr lang="fr-FR" b="1" dirty="0" err="1" smtClean="0"/>
              <a:t>Spring</a:t>
            </a:r>
            <a:r>
              <a:rPr lang="fr-FR" b="1" dirty="0" smtClean="0"/>
              <a:t> Data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43492" y="1772816"/>
            <a:ext cx="6777317" cy="4059813"/>
          </a:xfrm>
        </p:spPr>
        <p:txBody>
          <a:bodyPr/>
          <a:lstStyle/>
          <a:p>
            <a:pPr algn="just">
              <a:lnSpc>
                <a:spcPct val="300000"/>
              </a:lnSpc>
            </a:pPr>
            <a:r>
              <a:rPr lang="fr-FR" dirty="0" smtClean="0"/>
              <a:t>Créer l’interface : </a:t>
            </a:r>
            <a:r>
              <a:rPr lang="fr-FR" b="1" dirty="0" err="1" smtClean="0"/>
              <a:t>EmployesRepository</a:t>
            </a:r>
            <a:r>
              <a:rPr lang="fr-FR" b="1" dirty="0" smtClean="0"/>
              <a:t> </a:t>
            </a:r>
            <a:r>
              <a:rPr lang="fr-FR" dirty="0" smtClean="0"/>
              <a:t>sous la package dao qui hérite de </a:t>
            </a:r>
            <a:r>
              <a:rPr lang="fr-FR" b="1" dirty="0" err="1" smtClean="0"/>
              <a:t>JpaRepository</a:t>
            </a:r>
            <a:r>
              <a:rPr lang="fr-F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4339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/>
              <a:t>Test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300000"/>
              </a:lnSpc>
            </a:pPr>
            <a:r>
              <a:rPr lang="fr-FR" dirty="0" smtClean="0"/>
              <a:t>Utilisation de l’application </a:t>
            </a:r>
            <a:r>
              <a:rPr lang="fr-FR" b="1" dirty="0" err="1" smtClean="0"/>
              <a:t>Context</a:t>
            </a:r>
            <a:r>
              <a:rPr lang="fr-FR" dirty="0" smtClean="0"/>
              <a:t> afin de récupérer le Bean.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3564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01136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/>
              <a:t>La classe Main</a:t>
            </a:r>
            <a:endParaRPr lang="fr-FR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24024"/>
            <a:ext cx="8208912" cy="47293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425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817160"/>
          </a:xfrm>
        </p:spPr>
        <p:txBody>
          <a:bodyPr/>
          <a:lstStyle/>
          <a:p>
            <a:pPr algn="ctr"/>
            <a:r>
              <a:rPr lang="fr-FR" b="1" dirty="0" smtClean="0"/>
              <a:t>Amélioration </a:t>
            </a:r>
            <a:r>
              <a:rPr lang="fr-FR" b="1" dirty="0" err="1" smtClean="0"/>
              <a:t>Spring</a:t>
            </a:r>
            <a:r>
              <a:rPr lang="fr-FR" b="1" dirty="0" smtClean="0"/>
              <a:t> Data</a:t>
            </a:r>
            <a:endParaRPr lang="fr-FR" b="1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3" y="2132856"/>
            <a:ext cx="7992888" cy="40324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780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fr-FR" sz="8000" dirty="0" smtClean="0"/>
              <a:t>TEST</a:t>
            </a:r>
            <a:endParaRPr lang="fr-FR" sz="8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300000"/>
              </a:lnSpc>
            </a:pPr>
            <a:r>
              <a:rPr lang="fr-FR" sz="4000" b="1" dirty="0" err="1" smtClean="0"/>
              <a:t>findAll</a:t>
            </a:r>
            <a:r>
              <a:rPr lang="fr-FR" sz="4000" b="1" dirty="0" smtClean="0"/>
              <a:t>()</a:t>
            </a:r>
          </a:p>
          <a:p>
            <a:pPr>
              <a:lnSpc>
                <a:spcPct val="300000"/>
              </a:lnSpc>
            </a:pPr>
            <a:r>
              <a:rPr lang="fr-FR" sz="4000" b="1" dirty="0" err="1" smtClean="0"/>
              <a:t>Listmp</a:t>
            </a:r>
            <a:r>
              <a:rPr lang="fr-FR" sz="4000" b="1" dirty="0" smtClean="0"/>
              <a:t>()</a:t>
            </a:r>
          </a:p>
          <a:p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11734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73144"/>
          </a:xfrm>
        </p:spPr>
        <p:txBody>
          <a:bodyPr>
            <a:noAutofit/>
          </a:bodyPr>
          <a:lstStyle/>
          <a:p>
            <a:pPr algn="ctr"/>
            <a:r>
              <a:rPr lang="fr-FR" sz="4400" b="1" dirty="0" err="1" smtClean="0"/>
              <a:t>Spring</a:t>
            </a:r>
            <a:r>
              <a:rPr lang="fr-FR" sz="4400" b="1" dirty="0" smtClean="0"/>
              <a:t> MVC</a:t>
            </a:r>
            <a:endParaRPr lang="fr-FR" sz="4400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9" y="1844824"/>
            <a:ext cx="7727524" cy="44644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3253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73144"/>
          </a:xfrm>
        </p:spPr>
        <p:txBody>
          <a:bodyPr>
            <a:noAutofit/>
          </a:bodyPr>
          <a:lstStyle/>
          <a:p>
            <a:pPr algn="ctr"/>
            <a:r>
              <a:rPr lang="fr-FR" sz="4400" b="1" dirty="0" smtClean="0"/>
              <a:t>Création de Contrôleur</a:t>
            </a:r>
            <a:endParaRPr lang="fr-FR" sz="4400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988840"/>
            <a:ext cx="7560840" cy="39604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9367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6600" b="1" dirty="0" smtClean="0"/>
              <a:t>Test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300000"/>
              </a:lnSpc>
            </a:pPr>
            <a:r>
              <a:rPr lang="fr-FR" sz="3200" dirty="0" smtClean="0"/>
              <a:t>Exécuter la page sur le serveur</a:t>
            </a:r>
          </a:p>
          <a:p>
            <a:pPr>
              <a:lnSpc>
                <a:spcPct val="300000"/>
              </a:lnSpc>
            </a:pPr>
            <a:r>
              <a:rPr lang="fr-FR" sz="3200" dirty="0" smtClean="0"/>
              <a:t>Intégration </a:t>
            </a:r>
            <a:r>
              <a:rPr lang="fr-FR" sz="3200" b="1" dirty="0" err="1" smtClean="0"/>
              <a:t>thymeleaf</a:t>
            </a:r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320083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745152"/>
          </a:xfrm>
        </p:spPr>
        <p:txBody>
          <a:bodyPr/>
          <a:lstStyle/>
          <a:p>
            <a:pPr algn="ctr"/>
            <a:r>
              <a:rPr lang="fr-FR" b="1" dirty="0" smtClean="0"/>
              <a:t>Création de modèle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300000"/>
              </a:lnSpc>
            </a:pPr>
            <a:r>
              <a:rPr lang="fr-FR" dirty="0" smtClean="0"/>
              <a:t>Le modèle est prédéfini en </a:t>
            </a:r>
            <a:r>
              <a:rPr lang="fr-FR" dirty="0" err="1" smtClean="0"/>
              <a:t>Spring</a:t>
            </a:r>
            <a:r>
              <a:rPr lang="fr-FR" dirty="0" smtClean="0"/>
              <a:t> Boot, il suffit de la déclarer afin d’assurer la communication avec la vue.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640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Mise à jour du Contrôleur</a:t>
            </a:r>
            <a:endParaRPr lang="fr-FR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348880"/>
            <a:ext cx="7632848" cy="39604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328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595616"/>
            <a:ext cx="7024744" cy="673144"/>
          </a:xfrm>
        </p:spPr>
        <p:txBody>
          <a:bodyPr>
            <a:noAutofit/>
          </a:bodyPr>
          <a:lstStyle/>
          <a:p>
            <a:pPr algn="ctr"/>
            <a:r>
              <a:rPr lang="fr-FR" sz="4400" b="1" dirty="0" smtClean="0"/>
              <a:t>Création de la vue</a:t>
            </a:r>
            <a:br>
              <a:rPr lang="fr-FR" sz="4400" b="1" dirty="0" smtClean="0"/>
            </a:br>
            <a:r>
              <a:rPr lang="fr-FR" sz="4400" b="1" dirty="0" smtClean="0"/>
              <a:t>employes.html</a:t>
            </a:r>
            <a:endParaRPr lang="fr-FR" sz="4400" b="1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347788"/>
            <a:ext cx="8064896" cy="51055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834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7314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3200" b="1" dirty="0" err="1" smtClean="0"/>
              <a:t>Intégraion</a:t>
            </a:r>
            <a:r>
              <a:rPr lang="fr-FR" sz="3200" b="1" dirty="0" smtClean="0"/>
              <a:t> Du </a:t>
            </a:r>
            <a:r>
              <a:rPr lang="fr-FR" sz="3200" b="1" dirty="0" err="1" smtClean="0"/>
              <a:t>FrameWork</a:t>
            </a:r>
            <a:r>
              <a:rPr lang="fr-FR" sz="3200" b="1" dirty="0" smtClean="0"/>
              <a:t> </a:t>
            </a:r>
            <a:r>
              <a:rPr lang="fr-FR" sz="3200" b="1" dirty="0" err="1" smtClean="0"/>
              <a:t>BootStrup</a:t>
            </a: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200000"/>
              </a:lnSpc>
            </a:pPr>
            <a:r>
              <a:rPr lang="fr-FR" dirty="0" smtClean="0"/>
              <a:t>Intégrer le fichier CSS du </a:t>
            </a:r>
            <a:r>
              <a:rPr lang="fr-FR" dirty="0" err="1" smtClean="0"/>
              <a:t>FrameWork</a:t>
            </a:r>
            <a:r>
              <a:rPr lang="fr-FR" dirty="0" smtClean="0"/>
              <a:t> </a:t>
            </a:r>
            <a:r>
              <a:rPr lang="fr-FR" dirty="0" err="1" smtClean="0"/>
              <a:t>BootStrup</a:t>
            </a:r>
            <a:endParaRPr lang="fr-F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3429000"/>
            <a:ext cx="3312368" cy="24482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230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745152"/>
          </a:xfrm>
        </p:spPr>
        <p:txBody>
          <a:bodyPr>
            <a:noAutofit/>
          </a:bodyPr>
          <a:lstStyle/>
          <a:p>
            <a:pPr algn="ctr"/>
            <a:r>
              <a:rPr lang="fr-FR" sz="4800" b="1" dirty="0" smtClean="0"/>
              <a:t>Mise à jour de la vue</a:t>
            </a:r>
            <a:endParaRPr lang="fr-FR" sz="4800" b="1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596" y="1844824"/>
            <a:ext cx="7894836" cy="45472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90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01136"/>
          </a:xfrm>
        </p:spPr>
        <p:txBody>
          <a:bodyPr>
            <a:noAutofit/>
          </a:bodyPr>
          <a:lstStyle/>
          <a:p>
            <a:pPr algn="ctr"/>
            <a:r>
              <a:rPr lang="fr-FR" sz="5400" b="1" dirty="0" smtClean="0"/>
              <a:t>Test</a:t>
            </a:r>
            <a:endParaRPr lang="fr-FR" sz="54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43490" y="1664786"/>
            <a:ext cx="6777317" cy="350897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fr-FR" sz="3200" dirty="0" smtClean="0"/>
              <a:t>Tester la page</a:t>
            </a:r>
          </a:p>
          <a:p>
            <a:r>
              <a:rPr lang="fr-FR" sz="3200" dirty="0" smtClean="0"/>
              <a:t>Appliquer la feuille de style:</a:t>
            </a:r>
            <a:endParaRPr lang="fr-FR" sz="32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39" y="3861048"/>
            <a:ext cx="7821768" cy="7200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03" y="5113993"/>
            <a:ext cx="7790703" cy="6492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3721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b="1" dirty="0" smtClean="0"/>
              <a:t>L’ajout d’un Nouveau Employés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 smtClean="0"/>
              <a:t>Développer le mécanisme qui permet d’ajouter un enregistrement.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82843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Action : </a:t>
            </a:r>
            <a:r>
              <a:rPr lang="fr-FR" b="1" dirty="0" err="1" smtClean="0"/>
              <a:t>save</a:t>
            </a:r>
            <a:r>
              <a:rPr lang="fr-FR" b="1" dirty="0" smtClean="0"/>
              <a:t> Solution 1</a:t>
            </a:r>
            <a:endParaRPr lang="fr-FR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519363"/>
            <a:ext cx="8208912" cy="34299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4705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fr-FR" sz="4800" dirty="0" smtClean="0"/>
              <a:t>Mise à jour </a:t>
            </a:r>
            <a:r>
              <a:rPr lang="fr-FR" sz="4800" b="1" dirty="0" err="1" smtClean="0"/>
              <a:t>BootStrup</a:t>
            </a:r>
            <a:endParaRPr lang="fr-FR" sz="48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300000"/>
              </a:lnSpc>
            </a:pPr>
            <a:r>
              <a:rPr lang="fr-FR" sz="3600" dirty="0" smtClean="0"/>
              <a:t>Customiser votre formulaire à l’aide de CSS.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25037009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Action </a:t>
            </a:r>
            <a:r>
              <a:rPr lang="fr-FR" dirty="0" err="1" smtClean="0"/>
              <a:t>save</a:t>
            </a:r>
            <a:r>
              <a:rPr lang="fr-FR" dirty="0" smtClean="0"/>
              <a:t> solution 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Mise à jour action /</a:t>
            </a:r>
            <a:r>
              <a:rPr lang="fr-FR" dirty="0" err="1" smtClean="0"/>
              <a:t>start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996951"/>
            <a:ext cx="6880609" cy="29886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9913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Action save2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492896"/>
            <a:ext cx="6808602" cy="32403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54816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Mise à jour employe.html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564904"/>
            <a:ext cx="7056784" cy="34563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81496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Test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Tester l’action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69766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sz="6600" b="1" dirty="0" smtClean="0"/>
              <a:t>SUITE</a:t>
            </a:r>
            <a:endParaRPr lang="fr-FR" sz="6600" b="1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58172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9134" y="548680"/>
            <a:ext cx="7024744" cy="1143000"/>
          </a:xfrm>
        </p:spPr>
        <p:txBody>
          <a:bodyPr anchor="ctr"/>
          <a:lstStyle/>
          <a:p>
            <a:pPr algn="ctr"/>
            <a:r>
              <a:rPr lang="fr-FR" b="1" dirty="0" smtClean="0"/>
              <a:t>Formulaire</a:t>
            </a:r>
            <a:endParaRPr lang="fr-FR" b="1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608" y="1844824"/>
            <a:ext cx="6984776" cy="39876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75662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/>
              <a:t>Controller</a:t>
            </a:r>
            <a:endParaRPr lang="fr-FR" b="1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3454" y="2199157"/>
            <a:ext cx="7344816" cy="3600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3202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607858" y="-18479"/>
            <a:ext cx="3928284" cy="673144"/>
          </a:xfrm>
        </p:spPr>
        <p:txBody>
          <a:bodyPr anchor="ctr">
            <a:normAutofit/>
          </a:bodyPr>
          <a:lstStyle/>
          <a:p>
            <a:pPr algn="ctr"/>
            <a:r>
              <a:rPr lang="fr-FR" b="1" dirty="0" smtClean="0"/>
              <a:t>Template </a:t>
            </a:r>
            <a:endParaRPr lang="fr-FR" b="1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568" y="836712"/>
            <a:ext cx="7776864" cy="54726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4795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 smtClean="0"/>
              <a:t>delete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 smtClean="0"/>
              <a:t>Mise à jour contrôler</a:t>
            </a:r>
          </a:p>
          <a:p>
            <a:pPr algn="just">
              <a:lnSpc>
                <a:spcPct val="200000"/>
              </a:lnSpc>
            </a:pPr>
            <a:r>
              <a:rPr lang="fr-FR" sz="3200" dirty="0" smtClean="0"/>
              <a:t>Mise à jour Template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1425741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799" y="188640"/>
            <a:ext cx="7772400" cy="56810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Mise à jour contrôler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844824"/>
            <a:ext cx="7630616" cy="32403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69307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116632"/>
            <a:ext cx="7772400" cy="712120"/>
          </a:xfrm>
        </p:spPr>
        <p:txBody>
          <a:bodyPr/>
          <a:lstStyle/>
          <a:p>
            <a:pPr algn="ctr"/>
            <a:r>
              <a:rPr lang="fr-FR" dirty="0" smtClean="0"/>
              <a:t>Mise à jour </a:t>
            </a:r>
            <a:r>
              <a:rPr lang="fr-FR" dirty="0" err="1" smtClean="0"/>
              <a:t>template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340768"/>
            <a:ext cx="7486600" cy="45365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117751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MISE A JOUR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600" dirty="0" smtClean="0"/>
              <a:t>Customiser le contrôler</a:t>
            </a:r>
          </a:p>
          <a:p>
            <a:pPr algn="just">
              <a:lnSpc>
                <a:spcPct val="200000"/>
              </a:lnSpc>
            </a:pPr>
            <a:r>
              <a:rPr lang="fr-FR" sz="3600" dirty="0" smtClean="0"/>
              <a:t>Customiser la Template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4548589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Mise à jour du contrôler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536" y="2420888"/>
            <a:ext cx="8280920" cy="27363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2171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Mise à jour de la </a:t>
            </a:r>
            <a:r>
              <a:rPr lang="fr-FR" dirty="0" err="1" smtClean="0"/>
              <a:t>template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552" y="3068960"/>
            <a:ext cx="8136904" cy="5760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23694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La pagination</a:t>
            </a:r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571725"/>
            <a:ext cx="6362700" cy="26574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060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4960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Développement de l’action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0441" y="1340768"/>
            <a:ext cx="7772400" cy="4050792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fr-FR" dirty="0" smtClean="0"/>
              <a:t>Création de la méthode Sous le contrôleur 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5616" y="2276872"/>
            <a:ext cx="6768752" cy="34747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178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Mise à jour page html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r>
              <a:rPr lang="fr-FR" dirty="0" smtClean="0"/>
              <a:t>Tester l’action</a:t>
            </a:r>
            <a:endParaRPr lang="fr-F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305174"/>
            <a:ext cx="7200800" cy="6998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3622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dirty="0" smtClean="0"/>
              <a:t>Développement de navigation</a:t>
            </a: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 smtClean="0"/>
              <a:t>Récupérer le nombre de page afin d’afficher les numéros de page en dessous de la liste.</a:t>
            </a:r>
            <a:endParaRPr lang="fr-F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212977"/>
            <a:ext cx="7558608" cy="30963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39045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2800" dirty="0" smtClean="0"/>
              <a:t>Activer l’événement de chaque page</a:t>
            </a:r>
            <a:endParaRPr lang="fr-FR" sz="28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328988"/>
            <a:ext cx="6552728" cy="6760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85743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smtClean="0"/>
              <a:t>Relooker la page sélectionnée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 smtClean="0"/>
              <a:t>Afin de faciliter le travail de l’utilisateur il faut marquer la page sélectionnée.</a:t>
            </a:r>
          </a:p>
          <a:p>
            <a:pPr lvl="1" algn="just">
              <a:lnSpc>
                <a:spcPct val="200000"/>
              </a:lnSpc>
            </a:pPr>
            <a:r>
              <a:rPr lang="fr-FR" sz="2400" dirty="0" smtClean="0"/>
              <a:t>Récupérer la page courante.</a:t>
            </a:r>
          </a:p>
          <a:p>
            <a:pPr lvl="1" algn="just">
              <a:lnSpc>
                <a:spcPct val="200000"/>
              </a:lnSpc>
            </a:pPr>
            <a:r>
              <a:rPr lang="fr-FR" sz="2400" dirty="0" smtClean="0"/>
              <a:t>Ajouter la classe CSS convenable.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845376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Page courante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r>
              <a:rPr lang="fr-FR" dirty="0" smtClean="0"/>
              <a:t>Application de style</a:t>
            </a:r>
            <a:endParaRPr lang="fr-FR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852936"/>
            <a:ext cx="7272808" cy="9582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896" y="4653135"/>
            <a:ext cx="7294512" cy="5673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8048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Type de bois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ype de bois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ype de bois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1800</TotalTime>
  <Words>525</Words>
  <Application>Microsoft Office PowerPoint</Application>
  <PresentationFormat>Affichage à l'écran (4:3)</PresentationFormat>
  <Paragraphs>119</Paragraphs>
  <Slides>52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52</vt:i4>
      </vt:variant>
    </vt:vector>
  </HeadingPairs>
  <TitlesOfParts>
    <vt:vector size="57" baseType="lpstr">
      <vt:lpstr>Calibri</vt:lpstr>
      <vt:lpstr>Rockwell</vt:lpstr>
      <vt:lpstr>Rockwell Condensed</vt:lpstr>
      <vt:lpstr>Wingdings</vt:lpstr>
      <vt:lpstr>Type de bois</vt:lpstr>
      <vt:lpstr>Spring Boot</vt:lpstr>
      <vt:lpstr>La plateforme SPRING</vt:lpstr>
      <vt:lpstr>Pourquoi Spring Boot ?</vt:lpstr>
      <vt:lpstr>Structure d’un Projet Spring Boot</vt:lpstr>
      <vt:lpstr>Atelier N° 1</vt:lpstr>
      <vt:lpstr>Configuration</vt:lpstr>
      <vt:lpstr>Fichier de Configuration application.properties</vt:lpstr>
      <vt:lpstr>Tester Le Serveur</vt:lpstr>
      <vt:lpstr>Créer La Classe Entité</vt:lpstr>
      <vt:lpstr>Test</vt:lpstr>
      <vt:lpstr>SPRING DATA</vt:lpstr>
      <vt:lpstr>Spring DATA</vt:lpstr>
      <vt:lpstr>Spring DATA</vt:lpstr>
      <vt:lpstr>Spring Data JPA</vt:lpstr>
      <vt:lpstr>Mise en place de Spring Data</vt:lpstr>
      <vt:lpstr>Test</vt:lpstr>
      <vt:lpstr>La classe Main</vt:lpstr>
      <vt:lpstr>Amélioration Spring Data</vt:lpstr>
      <vt:lpstr>TEST</vt:lpstr>
      <vt:lpstr>Spring MVC</vt:lpstr>
      <vt:lpstr>Création de Contrôleur</vt:lpstr>
      <vt:lpstr>Test</vt:lpstr>
      <vt:lpstr>Création de modèle</vt:lpstr>
      <vt:lpstr>Mise à jour du Contrôleur</vt:lpstr>
      <vt:lpstr>Création de la vue employes.html</vt:lpstr>
      <vt:lpstr>Intégraion Du FrameWork BootStrup</vt:lpstr>
      <vt:lpstr>Mise à jour de la vue</vt:lpstr>
      <vt:lpstr>Test</vt:lpstr>
      <vt:lpstr>L’ajout d’un Nouveau Employés</vt:lpstr>
      <vt:lpstr>Action : save Solution 1</vt:lpstr>
      <vt:lpstr>Mise à jour BootStrup</vt:lpstr>
      <vt:lpstr>Action save solution 2</vt:lpstr>
      <vt:lpstr>Action save2</vt:lpstr>
      <vt:lpstr>Mise à jour employe.html</vt:lpstr>
      <vt:lpstr>Test</vt:lpstr>
      <vt:lpstr>SUITE</vt:lpstr>
      <vt:lpstr>Formulaire</vt:lpstr>
      <vt:lpstr>Controller</vt:lpstr>
      <vt:lpstr>Template </vt:lpstr>
      <vt:lpstr>delete</vt:lpstr>
      <vt:lpstr>Mise à jour contrôler</vt:lpstr>
      <vt:lpstr>Mise à jour template</vt:lpstr>
      <vt:lpstr>MISE A JOUR</vt:lpstr>
      <vt:lpstr>Mise à jour du contrôler</vt:lpstr>
      <vt:lpstr>Mise à jour de la template</vt:lpstr>
      <vt:lpstr>La pagination</vt:lpstr>
      <vt:lpstr>Développement de l’action</vt:lpstr>
      <vt:lpstr>Mise à jour page html</vt:lpstr>
      <vt:lpstr>Développement de navigation</vt:lpstr>
      <vt:lpstr>Activer l’événement de chaque page</vt:lpstr>
      <vt:lpstr>Relooker la page sélectionnée</vt:lpstr>
      <vt:lpstr>Page courante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</dc:title>
  <dc:creator>admin</dc:creator>
  <cp:lastModifiedBy>admin</cp:lastModifiedBy>
  <cp:revision>86</cp:revision>
  <dcterms:created xsi:type="dcterms:W3CDTF">2019-02-15T16:19:08Z</dcterms:created>
  <dcterms:modified xsi:type="dcterms:W3CDTF">2026-02-11T01:41:17Z</dcterms:modified>
</cp:coreProperties>
</file>